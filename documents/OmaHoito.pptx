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9" r:id="rId5"/>
    <p:sldId id="260" r:id="rId6"/>
    <p:sldId id="258" r:id="rId7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72B7"/>
    <a:srgbClr val="2E84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3" d="100"/>
          <a:sy n="73" d="100"/>
        </p:scale>
        <p:origin x="98" y="1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13EFF-FA54-4651-929E-0719D78748B8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96F4F-1377-4FF7-BEDB-E498B498866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8445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96F4F-1377-4FF7-BEDB-E498B498866C}" type="slidenum">
              <a:rPr lang="fi-FI" smtClean="0"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4493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83EF661-E6DF-813C-1DD8-52200D90C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3B00267C-B5D8-3706-A63F-12A7A6CFD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ABBA8022-7264-C675-9974-F5091311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3211-4AA4-450D-9A19-143E78558031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4A4C270-5CFF-871E-C41A-8CACAE0B6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39C3496-A374-42F6-D579-DC94555A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2A67-CD20-473D-AC3A-0115742C81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10424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C859339-B47A-8150-1538-A3B7A7A5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8D598C4-0C96-ABF5-931A-BB8D300C4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96BEAD0-9E59-E5E8-3624-385C8303B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3211-4AA4-450D-9A19-143E78558031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E28900CB-69A0-56F2-564C-837992A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0B4CF29-DD49-7B37-DFC1-B5E46A23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2A67-CD20-473D-AC3A-0115742C81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9960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B1F487F-40E0-F7E6-76C7-B8B244D87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3910F659-AD59-5CD5-7A33-A1234B55C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2FED27A-AA43-478E-2BBE-8616D8AAF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3211-4AA4-450D-9A19-143E78558031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A31A03D-8754-B37F-EF6B-CBDD56A6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4BCF968-D6D9-1EDF-227B-46AC57B13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2A67-CD20-473D-AC3A-0115742C81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5154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4B5466A-B983-4F0C-84EA-2DACD078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D82E5EA-B922-CC38-142D-04AE69657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23A4484F-E68B-83EA-B765-C4F7F0E24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6A39BBAF-0C57-7D20-9E9D-8145C46A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3211-4AA4-450D-9A19-143E78558031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1D07CE77-9368-B86B-5466-D1BE3A9C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F0ED242-FDC1-44E1-2017-2599A0333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2A67-CD20-473D-AC3A-0115742C81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48694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90DD3F0-43EA-6C98-6CE4-B46E7BAEE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EBB2699D-DBB5-BC39-E689-B25D71A41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31C255CA-D19E-EF10-9CDE-639514C0B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BB7DF728-45AB-C45A-9883-18994D30E8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8D5B1A60-B744-FBD1-481A-C5B103DE3B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FA8671F7-E744-7C56-8A63-D09F352A2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3211-4AA4-450D-9A19-143E78558031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6624FEFA-F60A-C92A-C840-AACD1C59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9033DF79-D5C8-F26F-7531-15805A29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2A67-CD20-473D-AC3A-0115742C81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1366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13C8FB7-EC8F-97DE-903C-2736C7B9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1FCD17F0-6244-6D9F-8BE9-9FE5E450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3211-4AA4-450D-9A19-143E78558031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06E09EB1-2274-8077-E0FB-0524BD92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635167C1-B734-115E-A2E8-FAB8D034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2A67-CD20-473D-AC3A-0115742C81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66073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81B0E690-5CAA-627D-0877-95403BA9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3211-4AA4-450D-9A19-143E78558031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CA7FB6C3-8A50-DF25-9F0D-B5886B4FD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73696243-5B13-4376-D989-BC801AA3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2A67-CD20-473D-AC3A-0115742C81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4532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AB912A4-F2DC-D65B-919F-6C9D2030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5F34DA7-18E9-2625-250C-61BEF6D7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CD1C0AEE-40C7-A2D2-6DC8-019516C03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F7320CB9-BCAA-D0DF-E5D0-92E024E36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3211-4AA4-450D-9A19-143E78558031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B494B921-AC01-E44F-25D3-08BD8132D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13CB5D6A-520F-FCAE-1E24-D0729B16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2A67-CD20-473D-AC3A-0115742C81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7143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9174CC1-F6B8-471F-DA7C-3C4B20EE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CEF044D1-F5ED-B2E6-E223-958648A6E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19791229-9CC6-A06E-94F0-C1A70419E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06721D70-ECAE-6E1C-6973-4EFAB634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3211-4AA4-450D-9A19-143E78558031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0B9A9B08-3EB6-6C6C-5548-2C75CF86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0904B4A5-4188-751E-1B15-5E4C6519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2A67-CD20-473D-AC3A-0115742C81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25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5B494A1-E566-26B5-1CE4-09C181DD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82ED346C-D79C-C87F-2BE7-A70AABEAD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5C9EC8A-C81A-73EF-75C6-1F48AF2D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3211-4AA4-450D-9A19-143E78558031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D96C6EB6-7D6B-AA07-39E1-19E88BDF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BF081221-5683-8420-BF04-CE322CA9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2A67-CD20-473D-AC3A-0115742C81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50008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C32EFF37-152F-4C15-9B82-BB91200B3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1F957F0E-3532-B695-354E-12DAD1566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16EF26F0-6104-0541-6845-71D7C62F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3211-4AA4-450D-9A19-143E78558031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B85B4FF-52E0-BE29-D01F-6D13269C2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EE639726-FE95-DE81-BFAD-C6914F5E4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2A67-CD20-473D-AC3A-0115742C81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98719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2230C8DF-04B5-9F52-A99F-918301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4F2A5DB2-7DF8-9F21-6FBE-6CDF67522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689CABE-533E-1BDD-1211-A6752D3BB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F3211-4AA4-450D-9A19-143E78558031}" type="datetimeFigureOut">
              <a:rPr lang="fi-FI" smtClean="0"/>
              <a:t>19.2.2026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5102A47-55A7-CDFD-2F38-1949BDD02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82F92795-DC61-E198-EDEE-730B09C95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02A67-CD20-473D-AC3A-0115742C81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2358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uva 6" descr="Kuva, joka sisältää kohteen kuvakaappaus, sininen, Sähkönsininen, muotoilu&#10;&#10;Tekoälyllä luotu sisältö voi olla virheellistä.">
            <a:extLst>
              <a:ext uri="{FF2B5EF4-FFF2-40B4-BE49-F238E27FC236}">
                <a16:creationId xmlns:a16="http://schemas.microsoft.com/office/drawing/2014/main" id="{DAEC52F8-4923-320F-5FBF-9C4C71BD7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C09927EF-D2D0-0E1D-B13D-F9E158251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1112" y="2963116"/>
            <a:ext cx="6989775" cy="931768"/>
          </a:xfrm>
          <a:prstGeom prst="roundRect">
            <a:avLst/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fi-FI" dirty="0" err="1">
                <a:solidFill>
                  <a:schemeClr val="bg1"/>
                </a:solidFill>
              </a:rPr>
              <a:t>OmaHoito</a:t>
            </a:r>
            <a:endParaRPr lang="fi-FI" dirty="0">
              <a:solidFill>
                <a:schemeClr val="bg1"/>
              </a:solidFill>
            </a:endParaRP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7114EF7D-17A2-3358-0F65-E1BB21918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1112" y="4140111"/>
            <a:ext cx="6989774" cy="1655762"/>
          </a:xfrm>
          <a:prstGeom prst="roundRect">
            <a:avLst/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/>
          <a:lstStyle/>
          <a:p>
            <a:r>
              <a:rPr lang="fi-FI" dirty="0">
                <a:solidFill>
                  <a:schemeClr val="bg1">
                    <a:lumMod val="95000"/>
                  </a:schemeClr>
                </a:solidFill>
              </a:rPr>
              <a:t>Mobiilikehitysprojekti</a:t>
            </a:r>
          </a:p>
          <a:p>
            <a:r>
              <a:rPr lang="fi-FI" dirty="0">
                <a:solidFill>
                  <a:schemeClr val="bg1">
                    <a:lumMod val="95000"/>
                  </a:schemeClr>
                </a:solidFill>
              </a:rPr>
              <a:t>Ryhmä 1</a:t>
            </a:r>
          </a:p>
          <a:p>
            <a:r>
              <a:rPr lang="fi-FI" dirty="0">
                <a:solidFill>
                  <a:schemeClr val="bg1">
                    <a:lumMod val="95000"/>
                  </a:schemeClr>
                </a:solidFill>
              </a:rPr>
              <a:t>Samuli Kokko, Nico Lappalainen ja Niko Pippuri</a:t>
            </a:r>
          </a:p>
        </p:txBody>
      </p:sp>
    </p:spTree>
    <p:extLst>
      <p:ext uri="{BB962C8B-B14F-4D97-AF65-F5344CB8AC3E}">
        <p14:creationId xmlns:p14="http://schemas.microsoft.com/office/powerpoint/2010/main" val="252804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98835-D5D7-2F4F-2827-5BE828419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uva 3" descr="Kuva, joka sisältää kohteen kuvakaappaus, sininen, Sähkönsininen, muotoilu&#10;&#10;Tekoälyllä luotu sisältö voi olla virheellistä.">
            <a:extLst>
              <a:ext uri="{FF2B5EF4-FFF2-40B4-BE49-F238E27FC236}">
                <a16:creationId xmlns:a16="http://schemas.microsoft.com/office/drawing/2014/main" id="{03AF37D2-405F-3C91-A60F-7AF119F37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FC7B8738-9CC6-18B6-5E8F-EC1A665E37A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>
              <a:gd name="adj" fmla="val 13036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228600" indent="-228600">
              <a:buFont typeface="Arial" panose="020B0604020202020204" pitchFamily="34" charset="0"/>
            </a:pPr>
            <a:r>
              <a:rPr lang="fi-FI" sz="6000" dirty="0" err="1">
                <a:solidFill>
                  <a:schemeClr val="bg1"/>
                </a:solidFill>
              </a:rPr>
              <a:t>OmaHoito</a:t>
            </a:r>
            <a:endParaRPr lang="fi-FI" sz="6000" dirty="0">
              <a:solidFill>
                <a:schemeClr val="bg1"/>
              </a:solidFill>
            </a:endParaRP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4040830-E14A-674D-C436-9EE1706DB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6879"/>
            <a:ext cx="3369415" cy="4351338"/>
          </a:xfrm>
          <a:prstGeom prst="roundRect">
            <a:avLst>
              <a:gd name="adj" fmla="val 4975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7500"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fi-FI" sz="1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Pakolliset palautukset &amp; </a:t>
            </a:r>
            <a:r>
              <a:rPr lang="fi-FI" sz="1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Scrum</a:t>
            </a:r>
            <a:endParaRPr lang="fi-FI" sz="1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/</a:t>
            </a: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documents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työajanseuranta</a:t>
            </a: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käyttöliittymäsuunnitelma</a:t>
            </a: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linkki loppuesitysvideoon</a:t>
            </a: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linkki Advanced Mobile -videoon</a:t>
            </a:r>
          </a:p>
          <a:p>
            <a:pPr lvl="1">
              <a:spcBef>
                <a:spcPct val="0"/>
              </a:spcBef>
            </a:pPr>
            <a:r>
              <a:rPr lang="fi-FI" sz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Itseis</a:t>
            </a: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- ja vertaisarvio Moodlessa</a:t>
            </a: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pisteytyslomake</a:t>
            </a:r>
          </a:p>
          <a:p>
            <a:pPr lvl="1">
              <a:spcBef>
                <a:spcPct val="0"/>
              </a:spcBef>
            </a:pPr>
            <a:r>
              <a:rPr lang="fi-FI" sz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Scrum</a:t>
            </a: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–palaverimuistio</a:t>
            </a:r>
          </a:p>
          <a:p>
            <a:pPr>
              <a:spcBef>
                <a:spcPct val="0"/>
              </a:spcBef>
            </a:pP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Projects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Sprintit nimetty</a:t>
            </a: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Tehtävät pilkottu</a:t>
            </a: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Tehtävillä </a:t>
            </a:r>
            <a:r>
              <a:rPr lang="fi-FI" sz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assignee</a:t>
            </a:r>
            <a:endParaRPr lang="fi-FI" sz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lvl="1">
              <a:spcBef>
                <a:spcPct val="0"/>
              </a:spcBef>
            </a:pPr>
            <a:r>
              <a:rPr lang="fi-FI" sz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Kanban</a:t>
            </a: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elänyt</a:t>
            </a: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Sprint </a:t>
            </a:r>
            <a:r>
              <a:rPr lang="fi-FI" sz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planning</a:t>
            </a: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tehty</a:t>
            </a:r>
          </a:p>
          <a:p>
            <a:pPr lvl="1">
              <a:spcBef>
                <a:spcPct val="0"/>
              </a:spcBef>
            </a:pPr>
            <a:r>
              <a:rPr lang="fi-FI" sz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Scrum</a:t>
            </a: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fi-FI" sz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review</a:t>
            </a:r>
            <a:endParaRPr lang="fi-FI" sz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1DB1A4F7-C980-DDEC-41F0-AC42CE640D09}"/>
              </a:ext>
            </a:extLst>
          </p:cNvPr>
          <p:cNvSpPr txBox="1">
            <a:spLocks/>
          </p:cNvSpPr>
          <p:nvPr/>
        </p:nvSpPr>
        <p:spPr>
          <a:xfrm>
            <a:off x="7984385" y="1976879"/>
            <a:ext cx="3369415" cy="4351338"/>
          </a:xfrm>
          <a:prstGeom prst="roundRect">
            <a:avLst>
              <a:gd name="adj" fmla="val 4975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UI/UX , navigaatio ja arkkitehtuuri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Näkymät ja navigaation &gt; 3 näkymää järkevällä polulla 2p</a:t>
            </a: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UI johdonmukainen 2p</a:t>
            </a:r>
            <a:endParaRPr lang="fi-FI" sz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Käytettävyys 2p</a:t>
            </a: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Lataus/virhe/tyhjä-tilat ja validoinnit</a:t>
            </a:r>
          </a:p>
          <a:p>
            <a:pPr lvl="1">
              <a:spcBef>
                <a:spcPct val="0"/>
              </a:spcBef>
            </a:pPr>
            <a:endParaRPr lang="fi-FI" sz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Viimeistely 1p</a:t>
            </a:r>
          </a:p>
          <a:p>
            <a:pPr lvl="1">
              <a:spcBef>
                <a:spcPct val="0"/>
              </a:spcBef>
            </a:pPr>
            <a:r>
              <a:rPr lang="fi-FI" sz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Responsiivisuus</a:t>
            </a: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ja </a:t>
            </a:r>
            <a:r>
              <a:rPr lang="fi-FI" sz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tablet</a:t>
            </a:r>
            <a:endParaRPr lang="fi-FI" sz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lvl="1">
              <a:spcBef>
                <a:spcPct val="0"/>
              </a:spcBef>
            </a:pPr>
            <a:endParaRPr lang="fi-FI" sz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MVVM jako 3p</a:t>
            </a: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State hallinta ja datavirta järkevästi 2p</a:t>
            </a: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Luettava koodi ja </a:t>
            </a: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komponentointi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DRY periaate</a:t>
            </a:r>
          </a:p>
          <a:p>
            <a:pPr lvl="1">
              <a:spcBef>
                <a:spcPct val="0"/>
              </a:spcBef>
            </a:pPr>
            <a:endParaRPr lang="fi-FI" sz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Toteutettu myös Advanced Mobile </a:t>
            </a: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kokonaisuudessan</a:t>
            </a: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ja integroitu projektiin (</a:t>
            </a: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Firebase</a:t>
            </a: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+ autentikointi) 15 + 1p</a:t>
            </a:r>
          </a:p>
        </p:txBody>
      </p:sp>
      <p:sp>
        <p:nvSpPr>
          <p:cNvPr id="6" name="Sisällön paikkamerkki 2">
            <a:extLst>
              <a:ext uri="{FF2B5EF4-FFF2-40B4-BE49-F238E27FC236}">
                <a16:creationId xmlns:a16="http://schemas.microsoft.com/office/drawing/2014/main" id="{115928AE-F14A-D9CE-EBED-754BD935E714}"/>
              </a:ext>
            </a:extLst>
          </p:cNvPr>
          <p:cNvSpPr txBox="1">
            <a:spLocks/>
          </p:cNvSpPr>
          <p:nvPr/>
        </p:nvSpPr>
        <p:spPr>
          <a:xfrm>
            <a:off x="4411292" y="1976879"/>
            <a:ext cx="3369415" cy="4351338"/>
          </a:xfrm>
          <a:prstGeom prst="roundRect">
            <a:avLst>
              <a:gd name="adj" fmla="val 4975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Toteutetut ominaisuudet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HTTP/Avoin API 4p</a:t>
            </a: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Listaus, detalji, haku/suodatus, lataus/virhetilat</a:t>
            </a:r>
          </a:p>
          <a:p>
            <a:pPr lvl="1">
              <a:spcBef>
                <a:spcPct val="0"/>
              </a:spcBef>
            </a:pPr>
            <a:endParaRPr lang="fi-FI" sz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Autentikointi ja käyttäjäkohtainen näkymä 4p</a:t>
            </a:r>
          </a:p>
          <a:p>
            <a:pPr lvl="1">
              <a:spcBef>
                <a:spcPct val="0"/>
              </a:spcBef>
            </a:pPr>
            <a:r>
              <a:rPr lang="fi-FI" sz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Firebase</a:t>
            </a:r>
            <a:endParaRPr lang="fi-FI" sz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lvl="1">
              <a:spcBef>
                <a:spcPct val="0"/>
              </a:spcBef>
            </a:pPr>
            <a:endParaRPr lang="fi-FI" sz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Kartta/paikkatieto 4p</a:t>
            </a: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Oman ja toisen laitteen</a:t>
            </a: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Sensorit/laiteominaisuus 4p</a:t>
            </a: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GPS, sormenjälki/PIN-koodi</a:t>
            </a: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Kamera 3p</a:t>
            </a: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Extrana: </a:t>
            </a: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Nofikaatiot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Lääkkeiden ja ruokailujen muistutukset</a:t>
            </a:r>
          </a:p>
          <a:p>
            <a:pPr lvl="1">
              <a:spcBef>
                <a:spcPct val="0"/>
              </a:spcBef>
            </a:pPr>
            <a:r>
              <a:rPr lang="fi-FI" sz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Alueelta poistuminen</a:t>
            </a:r>
          </a:p>
        </p:txBody>
      </p:sp>
    </p:spTree>
    <p:extLst>
      <p:ext uri="{BB962C8B-B14F-4D97-AF65-F5344CB8AC3E}">
        <p14:creationId xmlns:p14="http://schemas.microsoft.com/office/powerpoint/2010/main" val="1910547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uva 3" descr="Kuva, joka sisältää kohteen kuvakaappaus, sininen, Sähkönsininen, muotoilu&#10;&#10;Tekoälyllä luotu sisältö voi olla virheellistä.">
            <a:extLst>
              <a:ext uri="{FF2B5EF4-FFF2-40B4-BE49-F238E27FC236}">
                <a16:creationId xmlns:a16="http://schemas.microsoft.com/office/drawing/2014/main" id="{A59697C5-E427-F605-B2E8-D2EAD19AE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C2ECB84B-C1ED-434D-F406-58C1D1C1137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>
              <a:gd name="adj" fmla="val 13036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228600" indent="-228600">
              <a:buFont typeface="Arial" panose="020B0604020202020204" pitchFamily="34" charset="0"/>
            </a:pPr>
            <a:r>
              <a:rPr lang="fi-FI" sz="6000" dirty="0" err="1">
                <a:solidFill>
                  <a:schemeClr val="bg1"/>
                </a:solidFill>
              </a:rPr>
              <a:t>OmaHoito</a:t>
            </a:r>
            <a:endParaRPr lang="fi-FI" sz="6000" dirty="0">
              <a:solidFill>
                <a:schemeClr val="bg1"/>
              </a:solidFill>
            </a:endParaRP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C3F39C7-C23B-9869-67E9-0575CDF98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6879"/>
            <a:ext cx="3369415" cy="4351338"/>
          </a:xfrm>
          <a:prstGeom prst="roundRect">
            <a:avLst>
              <a:gd name="adj" fmla="val 4975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7500"/>
          </a:bodyPr>
          <a:lstStyle/>
          <a:p>
            <a:pPr>
              <a:spcBef>
                <a:spcPct val="0"/>
              </a:spcBef>
            </a:pPr>
            <a:r>
              <a:rPr lang="fi-FI" sz="1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Omahoito on digitaalinen etähoito sovellus, joka tukee vanhusten kotihoitoa ja kotona asumista</a:t>
            </a:r>
          </a:p>
          <a:p>
            <a:pPr>
              <a:spcBef>
                <a:spcPct val="0"/>
              </a:spcBef>
            </a:pPr>
            <a:endParaRPr lang="fi-FI" sz="1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Omaiset saavat mielenrauhaa ja läpinäkyvyyttä läheistensä arkeen</a:t>
            </a:r>
          </a:p>
          <a:p>
            <a:pPr>
              <a:spcBef>
                <a:spcPct val="0"/>
              </a:spcBef>
            </a:pPr>
            <a:endParaRPr lang="fi-FI" sz="1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Sovellus on kevyt ratkaisu arjen rutiinien seurantaan</a:t>
            </a:r>
          </a:p>
          <a:p>
            <a:pPr>
              <a:spcBef>
                <a:spcPct val="0"/>
              </a:spcBef>
            </a:pPr>
            <a:endParaRPr lang="fi-FI" sz="1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Nopea ja helppo käyttöönotto sekä hinnoittelu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EC471FEB-5D46-5A71-8E90-5784EB7EB16A}"/>
              </a:ext>
            </a:extLst>
          </p:cNvPr>
          <p:cNvSpPr txBox="1">
            <a:spLocks/>
          </p:cNvSpPr>
          <p:nvPr/>
        </p:nvSpPr>
        <p:spPr>
          <a:xfrm>
            <a:off x="7984385" y="1976879"/>
            <a:ext cx="3369415" cy="4351338"/>
          </a:xfrm>
          <a:prstGeom prst="roundRect">
            <a:avLst>
              <a:gd name="adj" fmla="val 4975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Teknologia</a:t>
            </a:r>
          </a:p>
        </p:txBody>
      </p:sp>
      <p:sp>
        <p:nvSpPr>
          <p:cNvPr id="6" name="Sisällön paikkamerkki 2">
            <a:extLst>
              <a:ext uri="{FF2B5EF4-FFF2-40B4-BE49-F238E27FC236}">
                <a16:creationId xmlns:a16="http://schemas.microsoft.com/office/drawing/2014/main" id="{8E1B8A02-7881-96CE-3CC8-9B86F6D6F0EE}"/>
              </a:ext>
            </a:extLst>
          </p:cNvPr>
          <p:cNvSpPr txBox="1">
            <a:spLocks/>
          </p:cNvSpPr>
          <p:nvPr/>
        </p:nvSpPr>
        <p:spPr>
          <a:xfrm>
            <a:off x="4411292" y="1976879"/>
            <a:ext cx="3369415" cy="4351338"/>
          </a:xfrm>
          <a:prstGeom prst="roundRect">
            <a:avLst>
              <a:gd name="adj" fmla="val 4975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Toiminnallisuudet</a:t>
            </a:r>
          </a:p>
        </p:txBody>
      </p:sp>
    </p:spTree>
    <p:extLst>
      <p:ext uri="{BB962C8B-B14F-4D97-AF65-F5344CB8AC3E}">
        <p14:creationId xmlns:p14="http://schemas.microsoft.com/office/powerpoint/2010/main" val="24674993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39604-3DC9-6C2F-A559-129C52B9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uva 3" descr="Kuva, joka sisältää kohteen kuvakaappaus, sininen, Sähkönsininen, muotoilu&#10;&#10;Tekoälyllä luotu sisältö voi olla virheellistä.">
            <a:extLst>
              <a:ext uri="{FF2B5EF4-FFF2-40B4-BE49-F238E27FC236}">
                <a16:creationId xmlns:a16="http://schemas.microsoft.com/office/drawing/2014/main" id="{DB3599D1-874C-5A8E-A5CC-74D07C76B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7CE0DE14-D0A0-155B-442B-2271D2B3E19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>
              <a:gd name="adj" fmla="val 13036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228600" indent="-228600" algn="ctr">
              <a:buFont typeface="Arial" panose="020B0604020202020204" pitchFamily="34" charset="0"/>
            </a:pPr>
            <a:r>
              <a:rPr lang="fi-FI" sz="6000" dirty="0" err="1">
                <a:solidFill>
                  <a:schemeClr val="bg1"/>
                </a:solidFill>
              </a:rPr>
              <a:t>OmaHoito</a:t>
            </a:r>
            <a:endParaRPr lang="fi-FI" sz="6000" dirty="0">
              <a:solidFill>
                <a:schemeClr val="bg1"/>
              </a:solidFill>
            </a:endParaRP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BBDEDFC-A85E-8B03-1641-D94B3758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6879"/>
            <a:ext cx="3369415" cy="4351338"/>
          </a:xfrm>
          <a:prstGeom prst="roundRect">
            <a:avLst>
              <a:gd name="adj" fmla="val 4975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spcBef>
                <a:spcPct val="0"/>
              </a:spcBef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Esittely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7930CC81-001A-B5A9-36EA-6AFEFA92AB03}"/>
              </a:ext>
            </a:extLst>
          </p:cNvPr>
          <p:cNvSpPr txBox="1">
            <a:spLocks/>
          </p:cNvSpPr>
          <p:nvPr/>
        </p:nvSpPr>
        <p:spPr>
          <a:xfrm>
            <a:off x="7984385" y="1976879"/>
            <a:ext cx="3369415" cy="4351338"/>
          </a:xfrm>
          <a:prstGeom prst="roundRect">
            <a:avLst>
              <a:gd name="adj" fmla="val 4975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Teknologia</a:t>
            </a:r>
          </a:p>
        </p:txBody>
      </p:sp>
      <p:sp>
        <p:nvSpPr>
          <p:cNvPr id="6" name="Sisällön paikkamerkki 2">
            <a:extLst>
              <a:ext uri="{FF2B5EF4-FFF2-40B4-BE49-F238E27FC236}">
                <a16:creationId xmlns:a16="http://schemas.microsoft.com/office/drawing/2014/main" id="{C2795617-7BF6-3A85-DE4A-CD6410FFA2C4}"/>
              </a:ext>
            </a:extLst>
          </p:cNvPr>
          <p:cNvSpPr txBox="1">
            <a:spLocks/>
          </p:cNvSpPr>
          <p:nvPr/>
        </p:nvSpPr>
        <p:spPr>
          <a:xfrm>
            <a:off x="4411292" y="1976879"/>
            <a:ext cx="3369415" cy="4351338"/>
          </a:xfrm>
          <a:prstGeom prst="roundRect">
            <a:avLst>
              <a:gd name="adj" fmla="val 4975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Toiminnallisuudet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Eri näkymät omaiselle ja vanhukselle</a:t>
            </a: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Lääkkeidenottoaikojen määritykset ja kuittaukset</a:t>
            </a: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Ruokailuajankohtien määritykset ja kuittaukset</a:t>
            </a: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Kotiosoitteen ja turva-alueen määritys ja sijainnin seuranta</a:t>
            </a: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Verenpainemittauksen seuranta ja historia tietojen tallennus</a:t>
            </a:r>
          </a:p>
        </p:txBody>
      </p:sp>
    </p:spTree>
    <p:extLst>
      <p:ext uri="{BB962C8B-B14F-4D97-AF65-F5344CB8AC3E}">
        <p14:creationId xmlns:p14="http://schemas.microsoft.com/office/powerpoint/2010/main" val="33686703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C960-7827-0526-2570-15B4FA627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uva 3" descr="Kuva, joka sisältää kohteen kuvakaappaus, sininen, Sähkönsininen, muotoilu&#10;&#10;Tekoälyllä luotu sisältö voi olla virheellistä.">
            <a:extLst>
              <a:ext uri="{FF2B5EF4-FFF2-40B4-BE49-F238E27FC236}">
                <a16:creationId xmlns:a16="http://schemas.microsoft.com/office/drawing/2014/main" id="{665F1484-84FF-2379-8B29-393D163C6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DEA91AD8-83F1-7DD9-A0B1-87102AF7065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oundRect">
            <a:avLst>
              <a:gd name="adj" fmla="val 13036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228600" indent="-228600" algn="r">
              <a:buFont typeface="Arial" panose="020B0604020202020204" pitchFamily="34" charset="0"/>
            </a:pPr>
            <a:r>
              <a:rPr lang="fi-FI" sz="6000" dirty="0" err="1">
                <a:solidFill>
                  <a:schemeClr val="bg1"/>
                </a:solidFill>
              </a:rPr>
              <a:t>OmaHoito</a:t>
            </a:r>
            <a:endParaRPr lang="fi-FI" sz="6000" dirty="0">
              <a:solidFill>
                <a:schemeClr val="bg1"/>
              </a:solidFill>
            </a:endParaRP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31ABA6B-CA25-8A70-FD3D-7A6AFBD5D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6879"/>
            <a:ext cx="3369415" cy="4351338"/>
          </a:xfrm>
          <a:prstGeom prst="roundRect">
            <a:avLst>
              <a:gd name="adj" fmla="val 4975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spcBef>
                <a:spcPct val="0"/>
              </a:spcBef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Esittely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28C0F1E5-17E1-5786-DD34-828FD4DD051E}"/>
              </a:ext>
            </a:extLst>
          </p:cNvPr>
          <p:cNvSpPr txBox="1">
            <a:spLocks/>
          </p:cNvSpPr>
          <p:nvPr/>
        </p:nvSpPr>
        <p:spPr>
          <a:xfrm>
            <a:off x="7984384" y="1976879"/>
            <a:ext cx="3369415" cy="4351338"/>
          </a:xfrm>
          <a:prstGeom prst="roundRect">
            <a:avLst>
              <a:gd name="adj" fmla="val 4975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Teknologia ja riippuvuudet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Runko ja UI</a:t>
            </a: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Expo</a:t>
            </a:r>
          </a:p>
          <a:p>
            <a:pPr>
              <a:spcBef>
                <a:spcPct val="0"/>
              </a:spcBef>
            </a:pP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React</a:t>
            </a: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Native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React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@react-navigation/native ja –</a:t>
            </a: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stack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react-native-paper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Kartta ja sijainti</a:t>
            </a:r>
          </a:p>
          <a:p>
            <a:pPr>
              <a:spcBef>
                <a:spcPct val="0"/>
              </a:spcBef>
            </a:pP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expo-location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react-native-maps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react-native-geocoding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Geolib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Autentikointi ja tietoturva</a:t>
            </a:r>
          </a:p>
          <a:p>
            <a:pPr>
              <a:spcBef>
                <a:spcPct val="0"/>
              </a:spcBef>
            </a:pP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Firebase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Expo-Secure-</a:t>
            </a: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Store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Expo-</a:t>
            </a: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Local</a:t>
            </a: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-</a:t>
            </a: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Authentication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Validointi</a:t>
            </a:r>
          </a:p>
          <a:p>
            <a:pPr>
              <a:spcBef>
                <a:spcPct val="0"/>
              </a:spcBef>
            </a:pPr>
            <a:r>
              <a:rPr lang="fi-FI" sz="16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Zod</a:t>
            </a:r>
            <a:endParaRPr lang="fi-FI" sz="16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Sisällön paikkamerkki 2">
            <a:extLst>
              <a:ext uri="{FF2B5EF4-FFF2-40B4-BE49-F238E27FC236}">
                <a16:creationId xmlns:a16="http://schemas.microsoft.com/office/drawing/2014/main" id="{E17B50BD-0774-BCE9-9304-093D494FEAA0}"/>
              </a:ext>
            </a:extLst>
          </p:cNvPr>
          <p:cNvSpPr txBox="1">
            <a:spLocks/>
          </p:cNvSpPr>
          <p:nvPr/>
        </p:nvSpPr>
        <p:spPr>
          <a:xfrm>
            <a:off x="4411292" y="1976879"/>
            <a:ext cx="3369415" cy="4351338"/>
          </a:xfrm>
          <a:prstGeom prst="roundRect">
            <a:avLst>
              <a:gd name="adj" fmla="val 4975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fi-FI" sz="1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Toiminnallisuudet</a:t>
            </a:r>
          </a:p>
        </p:txBody>
      </p:sp>
    </p:spTree>
    <p:extLst>
      <p:ext uri="{BB962C8B-B14F-4D97-AF65-F5344CB8AC3E}">
        <p14:creationId xmlns:p14="http://schemas.microsoft.com/office/powerpoint/2010/main" val="4676218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uva 3" descr="Kuva, joka sisältää kohteen kuvakaappaus, sininen, Sähkönsininen, muotoilu&#10;&#10;Tekoälyllä luotu sisältö voi olla virheellistä.">
            <a:extLst>
              <a:ext uri="{FF2B5EF4-FFF2-40B4-BE49-F238E27FC236}">
                <a16:creationId xmlns:a16="http://schemas.microsoft.com/office/drawing/2014/main" id="{30C1A2DB-95C7-C032-78BC-1D3C6ED73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tsikko 1">
            <a:extLst>
              <a:ext uri="{FF2B5EF4-FFF2-40B4-BE49-F238E27FC236}">
                <a16:creationId xmlns:a16="http://schemas.microsoft.com/office/drawing/2014/main" id="{9C773DAC-AFBD-6A2B-11B1-58A03D57E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oundRect">
            <a:avLst>
              <a:gd name="adj" fmla="val 13036"/>
            </a:avLst>
          </a:prstGeom>
          <a:solidFill>
            <a:srgbClr val="2772B7">
              <a:alpha val="74902"/>
            </a:srgbClr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228600" indent="-228600" algn="ctr">
              <a:buFont typeface="Arial" panose="020B0604020202020204" pitchFamily="34" charset="0"/>
            </a:pPr>
            <a:r>
              <a:rPr lang="fi-FI" sz="6000" dirty="0">
                <a:solidFill>
                  <a:schemeClr val="bg1"/>
                </a:solidFill>
              </a:rPr>
              <a:t>Kiitos!</a:t>
            </a:r>
          </a:p>
        </p:txBody>
      </p:sp>
    </p:spTree>
    <p:extLst>
      <p:ext uri="{BB962C8B-B14F-4D97-AF65-F5344CB8AC3E}">
        <p14:creationId xmlns:p14="http://schemas.microsoft.com/office/powerpoint/2010/main" val="3980635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2472</TotalTime>
  <Words>271</Words>
  <Application>Microsoft Office PowerPoint</Application>
  <PresentationFormat>Laajakuva</PresentationFormat>
  <Paragraphs>111</Paragraphs>
  <Slides>6</Slides>
  <Notes>1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Office-teema</vt:lpstr>
      <vt:lpstr>OmaHoito</vt:lpstr>
      <vt:lpstr>OmaHoito</vt:lpstr>
      <vt:lpstr>OmaHoito</vt:lpstr>
      <vt:lpstr>OmaHoito</vt:lpstr>
      <vt:lpstr>OmaHoito</vt:lpstr>
      <vt:lpstr>Kiitos!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Samuli Kokko</dc:creator>
  <cp:lastModifiedBy>Samuli Kokko</cp:lastModifiedBy>
  <cp:revision>1</cp:revision>
  <dcterms:created xsi:type="dcterms:W3CDTF">2026-02-19T16:24:41Z</dcterms:created>
  <dcterms:modified xsi:type="dcterms:W3CDTF">2026-02-21T09:36:42Z</dcterms:modified>
</cp:coreProperties>
</file>